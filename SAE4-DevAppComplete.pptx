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2705b0a8f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2705b0a8f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329fb18b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329fb18b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329fb18b4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329fb18b4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34c0512ab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34c0512ab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329fb18b4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329fb18b4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34c0512ab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34c0512ab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329fb18b4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329fb18b4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329fb18b4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329fb18b4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329fb18b4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329fb18b4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drive.google.com/file/d/10NpYMR38xzFtHBEMQu0H0l0URm33F0lz/view" TargetMode="Externa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drive.google.com/file/d/19Sipdxk9G_wmgngG19tkshhAsOi6xHKV/view" TargetMode="Externa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1259250" y="1162375"/>
            <a:ext cx="6625500" cy="1125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891"/>
              <a:buNone/>
            </a:pPr>
            <a:r>
              <a:rPr b="1" lang="es" sz="3162"/>
              <a:t>Jeu du Snake Game de l’algorithme A* à </a:t>
            </a:r>
            <a:r>
              <a:rPr b="1" lang="es" sz="3162"/>
              <a:t>l'apprentissage</a:t>
            </a:r>
            <a:r>
              <a:rPr b="1" lang="es" sz="3162"/>
              <a:t> par renforcement</a:t>
            </a:r>
            <a:endParaRPr b="1" sz="3162"/>
          </a:p>
        </p:txBody>
      </p:sp>
      <p:sp>
        <p:nvSpPr>
          <p:cNvPr id="86" name="Google Shape;86;p13"/>
          <p:cNvSpPr txBox="1"/>
          <p:nvPr>
            <p:ph idx="1" type="subTitle"/>
          </p:nvPr>
        </p:nvSpPr>
        <p:spPr>
          <a:xfrm>
            <a:off x="598100" y="2715948"/>
            <a:ext cx="8222100" cy="206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s" sz="1900"/>
              <a:t>Course</a:t>
            </a:r>
            <a:r>
              <a:rPr lang="es" sz="1900"/>
              <a:t>:			SAE Réaliser une Application Informatique Complète</a:t>
            </a:r>
            <a:endParaRPr sz="1900"/>
          </a:p>
          <a:p>
            <a:pPr indent="0" lvl="0" marL="0" rtl="0" algn="l">
              <a:spcBef>
                <a:spcPts val="0"/>
              </a:spcBef>
              <a:spcAft>
                <a:spcPts val="0"/>
              </a:spcAft>
              <a:buNone/>
            </a:pPr>
            <a:r>
              <a:rPr i="1" lang="es" sz="1900"/>
              <a:t>Enseignants</a:t>
            </a:r>
            <a:r>
              <a:rPr lang="es" sz="1900"/>
              <a:t>:		Frédér</a:t>
            </a:r>
            <a:r>
              <a:rPr lang="es" sz="1900"/>
              <a:t>ic FURST</a:t>
            </a:r>
            <a:endParaRPr sz="1900"/>
          </a:p>
          <a:p>
            <a:pPr indent="0" lvl="0" marL="0" rtl="0" algn="l">
              <a:spcBef>
                <a:spcPts val="0"/>
              </a:spcBef>
              <a:spcAft>
                <a:spcPts val="0"/>
              </a:spcAft>
              <a:buNone/>
            </a:pPr>
            <a:r>
              <a:rPr lang="es" sz="1900"/>
              <a:t>				Yu LI</a:t>
            </a:r>
            <a:endParaRPr sz="1900"/>
          </a:p>
          <a:p>
            <a:pPr indent="0" lvl="0" marL="0" rtl="0" algn="l">
              <a:spcBef>
                <a:spcPts val="0"/>
              </a:spcBef>
              <a:spcAft>
                <a:spcPts val="0"/>
              </a:spcAft>
              <a:buNone/>
            </a:pPr>
            <a:r>
              <a:rPr i="1" lang="es" sz="1900"/>
              <a:t>Etudiants</a:t>
            </a:r>
            <a:r>
              <a:rPr lang="es" sz="1900"/>
              <a:t>:		Yassir ELMOUDNI</a:t>
            </a:r>
            <a:endParaRPr sz="1900"/>
          </a:p>
          <a:p>
            <a:pPr indent="0" lvl="0" marL="0" rtl="0" algn="l">
              <a:spcBef>
                <a:spcPts val="0"/>
              </a:spcBef>
              <a:spcAft>
                <a:spcPts val="0"/>
              </a:spcAft>
              <a:buNone/>
            </a:pPr>
            <a:r>
              <a:rPr lang="es" sz="1900"/>
              <a:t>				Henry Andrew MEDINA CONDO</a:t>
            </a:r>
            <a:endParaRPr sz="1900"/>
          </a:p>
          <a:p>
            <a:pPr indent="0" lvl="0" marL="0" rtl="0" algn="l">
              <a:spcBef>
                <a:spcPts val="0"/>
              </a:spcBef>
              <a:spcAft>
                <a:spcPts val="0"/>
              </a:spcAft>
              <a:buNone/>
            </a:pPr>
            <a:r>
              <a:rPr lang="es" sz="1900"/>
              <a:t>Année:			2026</a:t>
            </a:r>
            <a:endParaRPr sz="1900"/>
          </a:p>
        </p:txBody>
      </p:sp>
      <p:pic>
        <p:nvPicPr>
          <p:cNvPr id="87" name="Google Shape;87;p13"/>
          <p:cNvPicPr preferRelativeResize="0"/>
          <p:nvPr/>
        </p:nvPicPr>
        <p:blipFill>
          <a:blip r:embed="rId3">
            <a:alphaModFix/>
          </a:blip>
          <a:stretch>
            <a:fillRect/>
          </a:stretch>
        </p:blipFill>
        <p:spPr>
          <a:xfrm>
            <a:off x="77500" y="129150"/>
            <a:ext cx="1204175" cy="1394849"/>
          </a:xfrm>
          <a:prstGeom prst="rect">
            <a:avLst/>
          </a:prstGeom>
          <a:noFill/>
          <a:ln>
            <a:noFill/>
          </a:ln>
        </p:spPr>
      </p:pic>
      <p:sp>
        <p:nvSpPr>
          <p:cNvPr id="88" name="Google Shape;88;p1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s" sz="1500"/>
              <a:t>‹#›</a:t>
            </a:fld>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154725" y="53975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Contenu</a:t>
            </a:r>
            <a:endParaRPr/>
          </a:p>
        </p:txBody>
      </p:sp>
      <p:sp>
        <p:nvSpPr>
          <p:cNvPr id="94" name="Google Shape;94;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55600" lvl="0" marL="457200" marR="0" rtl="0" algn="l">
              <a:lnSpc>
                <a:spcPct val="115000"/>
              </a:lnSpc>
              <a:spcBef>
                <a:spcPts val="0"/>
              </a:spcBef>
              <a:spcAft>
                <a:spcPts val="0"/>
              </a:spcAft>
              <a:buSzPts val="2000"/>
              <a:buAutoNum type="arabicPeriod"/>
            </a:pPr>
            <a:r>
              <a:rPr lang="es" sz="2000"/>
              <a:t>Le Problème: Étude Comparative des Paradigmes de Navigation : Heuristique (A) vs Apprentissage (RL)*</a:t>
            </a:r>
            <a:endParaRPr sz="2000"/>
          </a:p>
          <a:p>
            <a:pPr indent="-355600" lvl="0" marL="457200" rtl="0" algn="l">
              <a:spcBef>
                <a:spcPts val="0"/>
              </a:spcBef>
              <a:spcAft>
                <a:spcPts val="0"/>
              </a:spcAft>
              <a:buSzPts val="2000"/>
              <a:buAutoNum type="arabicPeriod"/>
            </a:pPr>
            <a:r>
              <a:rPr lang="es" sz="2000"/>
              <a:t>F</a:t>
            </a:r>
            <a:r>
              <a:rPr lang="es" sz="2000"/>
              <a:t>onctionnement du Reinforcement Learning</a:t>
            </a:r>
            <a:endParaRPr sz="2000"/>
          </a:p>
          <a:p>
            <a:pPr indent="-355600" lvl="0" marL="457200" rtl="0" algn="l">
              <a:spcBef>
                <a:spcPts val="0"/>
              </a:spcBef>
              <a:spcAft>
                <a:spcPts val="0"/>
              </a:spcAft>
              <a:buSzPts val="2000"/>
              <a:buAutoNum type="arabicPeriod"/>
            </a:pPr>
            <a:r>
              <a:rPr lang="es" sz="2000"/>
              <a:t>L’entrainement</a:t>
            </a:r>
            <a:endParaRPr sz="2000"/>
          </a:p>
          <a:p>
            <a:pPr indent="-355600" lvl="0" marL="457200" rtl="0" algn="l">
              <a:spcBef>
                <a:spcPts val="0"/>
              </a:spcBef>
              <a:spcAft>
                <a:spcPts val="0"/>
              </a:spcAft>
              <a:buSzPts val="2000"/>
              <a:buAutoNum type="arabicPeriod"/>
            </a:pPr>
            <a:r>
              <a:rPr lang="es" sz="2000"/>
              <a:t>Démonstration</a:t>
            </a:r>
            <a:endParaRPr sz="2000"/>
          </a:p>
          <a:p>
            <a:pPr indent="-355600" lvl="0" marL="457200" rtl="0" algn="l">
              <a:spcBef>
                <a:spcPts val="0"/>
              </a:spcBef>
              <a:spcAft>
                <a:spcPts val="0"/>
              </a:spcAft>
              <a:buSzPts val="2000"/>
              <a:buAutoNum type="arabicPeriod"/>
            </a:pPr>
            <a:r>
              <a:rPr lang="es" sz="2000"/>
              <a:t>Conclusions</a:t>
            </a:r>
            <a:endParaRPr sz="2000"/>
          </a:p>
        </p:txBody>
      </p:sp>
      <p:sp>
        <p:nvSpPr>
          <p:cNvPr id="95" name="Google Shape;95;p1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196350" y="109700"/>
            <a:ext cx="8751300" cy="607800"/>
          </a:xfrm>
          <a:prstGeom prst="rect">
            <a:avLst/>
          </a:prstGeom>
        </p:spPr>
        <p:txBody>
          <a:bodyPr anchorCtr="0" anchor="t" bIns="91425" lIns="91425" spcFirstLastPara="1" rIns="91425" wrap="square" tIns="91425">
            <a:normAutofit fontScale="90000"/>
          </a:bodyPr>
          <a:lstStyle/>
          <a:p>
            <a:pPr indent="-400050" lvl="0" marL="457200" rtl="0" algn="ctr">
              <a:spcBef>
                <a:spcPts val="0"/>
              </a:spcBef>
              <a:spcAft>
                <a:spcPts val="0"/>
              </a:spcAft>
              <a:buSzPct val="100000"/>
              <a:buAutoNum type="arabicPeriod"/>
            </a:pPr>
            <a:r>
              <a:rPr lang="es"/>
              <a:t>Le </a:t>
            </a:r>
            <a:r>
              <a:rPr lang="es"/>
              <a:t>Problè</a:t>
            </a:r>
            <a:r>
              <a:rPr lang="es"/>
              <a:t>me: </a:t>
            </a:r>
            <a:r>
              <a:rPr lang="es"/>
              <a:t>Étude Comparative des Paradigmes de Navigation : Heuristique (A) vs Apprentissage (RL)*</a:t>
            </a:r>
            <a:endParaRPr/>
          </a:p>
        </p:txBody>
      </p:sp>
      <p:sp>
        <p:nvSpPr>
          <p:cNvPr id="101" name="Google Shape;101;p15"/>
          <p:cNvSpPr txBox="1"/>
          <p:nvPr>
            <p:ph idx="1" type="body"/>
          </p:nvPr>
        </p:nvSpPr>
        <p:spPr>
          <a:xfrm>
            <a:off x="311700" y="1112000"/>
            <a:ext cx="8520600" cy="3254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s"/>
              <a:t>Le Contexte : Le "Snake Game" comme Environnement de Test</a:t>
            </a:r>
            <a:endParaRPr/>
          </a:p>
          <a:p>
            <a:pPr indent="-317500" lvl="1" marL="914400" rtl="0" algn="l">
              <a:spcBef>
                <a:spcPts val="0"/>
              </a:spcBef>
              <a:spcAft>
                <a:spcPts val="0"/>
              </a:spcAft>
              <a:buSzPts val="1400"/>
              <a:buAutoNum type="alphaLcPeriod"/>
            </a:pPr>
            <a:r>
              <a:rPr lang="es"/>
              <a:t>Un environnement dynamique et discret</a:t>
            </a:r>
            <a:endParaRPr/>
          </a:p>
          <a:p>
            <a:pPr indent="-317500" lvl="1" marL="914400" rtl="0" algn="l">
              <a:spcBef>
                <a:spcPts val="0"/>
              </a:spcBef>
              <a:spcAft>
                <a:spcPts val="0"/>
              </a:spcAft>
              <a:buSzPts val="1400"/>
              <a:buAutoNum type="alphaLcPeriod"/>
            </a:pPr>
            <a:r>
              <a:rPr lang="es"/>
              <a:t>Un défi de planification</a:t>
            </a:r>
            <a:endParaRPr/>
          </a:p>
          <a:p>
            <a:pPr indent="-342900" lvl="0" marL="457200" rtl="0" algn="l">
              <a:spcBef>
                <a:spcPts val="0"/>
              </a:spcBef>
              <a:spcAft>
                <a:spcPts val="0"/>
              </a:spcAft>
              <a:buSzPts val="1800"/>
              <a:buAutoNum type="arabicPeriod"/>
            </a:pPr>
            <a:r>
              <a:rPr lang="es"/>
              <a:t>Le Besoin : Un Module de Comparaison Rigoureux</a:t>
            </a:r>
            <a:endParaRPr/>
          </a:p>
          <a:p>
            <a:pPr indent="-317500" lvl="1" marL="914400" rtl="0" algn="l">
              <a:spcBef>
                <a:spcPts val="0"/>
              </a:spcBef>
              <a:spcAft>
                <a:spcPts val="0"/>
              </a:spcAft>
              <a:buSzPts val="1400"/>
              <a:buAutoNum type="alphaLcPeriod"/>
            </a:pPr>
            <a:r>
              <a:rPr lang="es"/>
              <a:t>Efficacité (Score)</a:t>
            </a:r>
            <a:endParaRPr/>
          </a:p>
          <a:p>
            <a:pPr indent="-317500" lvl="1" marL="914400" rtl="0" algn="l">
              <a:spcBef>
                <a:spcPts val="0"/>
              </a:spcBef>
              <a:spcAft>
                <a:spcPts val="0"/>
              </a:spcAft>
              <a:buSzPts val="1400"/>
              <a:buAutoNum type="alphaLcPeriod"/>
            </a:pPr>
            <a:r>
              <a:rPr lang="es"/>
              <a:t>Efficience (Temps de calcul)</a:t>
            </a:r>
            <a:endParaRPr/>
          </a:p>
          <a:p>
            <a:pPr indent="-317500" lvl="1" marL="914400" rtl="0" algn="l">
              <a:spcBef>
                <a:spcPts val="0"/>
              </a:spcBef>
              <a:spcAft>
                <a:spcPts val="0"/>
              </a:spcAft>
              <a:buSzPts val="1400"/>
              <a:buAutoNum type="alphaLcPeriod"/>
            </a:pPr>
            <a:r>
              <a:rPr lang="es"/>
              <a:t>Optimalité (Chemin)</a:t>
            </a:r>
            <a:endParaRPr/>
          </a:p>
          <a:p>
            <a:pPr indent="-342900" lvl="0" marL="457200" rtl="0" algn="l">
              <a:spcBef>
                <a:spcPts val="0"/>
              </a:spcBef>
              <a:spcAft>
                <a:spcPts val="0"/>
              </a:spcAft>
              <a:buSzPts val="1800"/>
              <a:buAutoNum type="arabicPeriod"/>
            </a:pPr>
            <a:r>
              <a:rPr lang="es"/>
              <a:t>Les deux Approches confrontées</a:t>
            </a:r>
            <a:endParaRPr/>
          </a:p>
          <a:p>
            <a:pPr indent="-317500" lvl="1" marL="914400" rtl="0" algn="l">
              <a:spcBef>
                <a:spcPts val="0"/>
              </a:spcBef>
              <a:spcAft>
                <a:spcPts val="0"/>
              </a:spcAft>
              <a:buSzPts val="1400"/>
              <a:buAutoNum type="alphaLcPeriod"/>
            </a:pPr>
            <a:r>
              <a:rPr lang="es"/>
              <a:t>Approche par Recherche (A)* : Un modèle de perfection locale.</a:t>
            </a:r>
            <a:endParaRPr/>
          </a:p>
          <a:p>
            <a:pPr indent="-317500" lvl="1" marL="914400" rtl="0" algn="l">
              <a:spcBef>
                <a:spcPts val="0"/>
              </a:spcBef>
              <a:spcAft>
                <a:spcPts val="0"/>
              </a:spcAft>
              <a:buSzPts val="1400"/>
              <a:buAutoNum type="alphaLcPeriod"/>
            </a:pPr>
            <a:r>
              <a:rPr lang="es"/>
              <a:t>Approche par Apprentissage (Q-Learning) : Un modèle de stratégie globale apprenant par expérience.</a:t>
            </a:r>
            <a:endParaRPr/>
          </a:p>
        </p:txBody>
      </p:sp>
      <p:sp>
        <p:nvSpPr>
          <p:cNvPr id="102" name="Google Shape;102;p1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2. F</a:t>
            </a:r>
            <a:r>
              <a:rPr lang="es"/>
              <a:t>onctionnement du Reinforcement Learning</a:t>
            </a:r>
            <a:endParaRPr/>
          </a:p>
        </p:txBody>
      </p:sp>
      <p:sp>
        <p:nvSpPr>
          <p:cNvPr id="108" name="Google Shape;108;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Clr>
                <a:srgbClr val="000000"/>
              </a:buClr>
              <a:buSzPct val="100000"/>
              <a:buFont typeface="Arial"/>
              <a:buAutoNum type="arabicPeriod"/>
            </a:pPr>
            <a:r>
              <a:rPr b="1" lang="es" sz="1300">
                <a:solidFill>
                  <a:srgbClr val="000000"/>
                </a:solidFill>
                <a:latin typeface="Arial"/>
                <a:ea typeface="Arial"/>
                <a:cs typeface="Arial"/>
                <a:sym typeface="Arial"/>
              </a:rPr>
              <a:t>Le Cycle Interaction-Apprentissage</a:t>
            </a:r>
            <a:endParaRPr b="1" sz="1300">
              <a:solidFill>
                <a:srgbClr val="000000"/>
              </a:solidFill>
              <a:latin typeface="Arial"/>
              <a:ea typeface="Arial"/>
              <a:cs typeface="Arial"/>
              <a:sym typeface="Arial"/>
            </a:endParaRPr>
          </a:p>
          <a:p>
            <a:pPr indent="-304958" lvl="1" marL="914400" rtl="0" algn="l">
              <a:spcBef>
                <a:spcPts val="1000"/>
              </a:spcBef>
              <a:spcAft>
                <a:spcPts val="0"/>
              </a:spcAft>
              <a:buClr>
                <a:srgbClr val="000000"/>
              </a:buClr>
              <a:buSzPct val="100000"/>
              <a:buFont typeface="Arial"/>
              <a:buAutoNum type="alphaLcPeriod"/>
            </a:pPr>
            <a:r>
              <a:rPr lang="es" sz="1300">
                <a:solidFill>
                  <a:srgbClr val="000000"/>
                </a:solidFill>
                <a:latin typeface="Arial"/>
                <a:ea typeface="Arial"/>
                <a:cs typeface="Arial"/>
                <a:sym typeface="Arial"/>
              </a:rPr>
              <a:t>Observation</a:t>
            </a:r>
            <a:endParaRPr sz="1300">
              <a:solidFill>
                <a:srgbClr val="000000"/>
              </a:solidFill>
              <a:latin typeface="Arial"/>
              <a:ea typeface="Arial"/>
              <a:cs typeface="Arial"/>
              <a:sym typeface="Arial"/>
            </a:endParaRPr>
          </a:p>
          <a:p>
            <a:pPr indent="-304958" lvl="1" marL="914400" rtl="0" algn="l">
              <a:spcBef>
                <a:spcPts val="1000"/>
              </a:spcBef>
              <a:spcAft>
                <a:spcPts val="0"/>
              </a:spcAft>
              <a:buClr>
                <a:srgbClr val="000000"/>
              </a:buClr>
              <a:buSzPct val="100000"/>
              <a:buFont typeface="Arial"/>
              <a:buAutoNum type="alphaLcPeriod"/>
            </a:pPr>
            <a:r>
              <a:rPr lang="es" sz="1300">
                <a:solidFill>
                  <a:srgbClr val="000000"/>
                </a:solidFill>
                <a:latin typeface="Arial"/>
                <a:ea typeface="Arial"/>
                <a:cs typeface="Arial"/>
                <a:sym typeface="Arial"/>
              </a:rPr>
              <a:t>Action.</a:t>
            </a:r>
            <a:endParaRPr sz="1300">
              <a:solidFill>
                <a:srgbClr val="000000"/>
              </a:solidFill>
              <a:latin typeface="Arial"/>
              <a:ea typeface="Arial"/>
              <a:cs typeface="Arial"/>
              <a:sym typeface="Arial"/>
            </a:endParaRPr>
          </a:p>
          <a:p>
            <a:pPr indent="-304958" lvl="1" marL="914400" rtl="0" algn="l">
              <a:spcBef>
                <a:spcPts val="1000"/>
              </a:spcBef>
              <a:spcAft>
                <a:spcPts val="0"/>
              </a:spcAft>
              <a:buClr>
                <a:srgbClr val="000000"/>
              </a:buClr>
              <a:buSzPct val="100000"/>
              <a:buFont typeface="Arial"/>
              <a:buAutoNum type="alphaLcPeriod"/>
            </a:pPr>
            <a:r>
              <a:rPr lang="es" sz="1300">
                <a:solidFill>
                  <a:srgbClr val="000000"/>
                </a:solidFill>
                <a:latin typeface="Arial"/>
                <a:ea typeface="Arial"/>
                <a:cs typeface="Arial"/>
                <a:sym typeface="Arial"/>
              </a:rPr>
              <a:t>Récompense </a:t>
            </a:r>
            <a:endParaRPr sz="1300">
              <a:solidFill>
                <a:srgbClr val="000000"/>
              </a:solidFill>
              <a:latin typeface="Arial"/>
              <a:ea typeface="Arial"/>
              <a:cs typeface="Arial"/>
              <a:sym typeface="Arial"/>
            </a:endParaRPr>
          </a:p>
          <a:p>
            <a:pPr indent="-304958" lvl="1" marL="914400" rtl="0" algn="l">
              <a:spcBef>
                <a:spcPts val="1000"/>
              </a:spcBef>
              <a:spcAft>
                <a:spcPts val="0"/>
              </a:spcAft>
              <a:buClr>
                <a:srgbClr val="000000"/>
              </a:buClr>
              <a:buSzPct val="100000"/>
              <a:buFont typeface="Arial"/>
              <a:buAutoNum type="alphaLcPeriod"/>
            </a:pPr>
            <a:r>
              <a:rPr lang="es" sz="1300">
                <a:solidFill>
                  <a:srgbClr val="000000"/>
                </a:solidFill>
                <a:latin typeface="Arial"/>
                <a:ea typeface="Arial"/>
                <a:cs typeface="Arial"/>
                <a:sym typeface="Arial"/>
              </a:rPr>
              <a:t>Nouvel État</a:t>
            </a:r>
            <a:endParaRPr sz="1300">
              <a:solidFill>
                <a:srgbClr val="000000"/>
              </a:solidFill>
              <a:latin typeface="Arial"/>
              <a:ea typeface="Arial"/>
              <a:cs typeface="Arial"/>
              <a:sym typeface="Arial"/>
            </a:endParaRPr>
          </a:p>
          <a:p>
            <a:pPr indent="-304958" lvl="0" marL="457200" marR="0" rtl="0" algn="l">
              <a:lnSpc>
                <a:spcPct val="115000"/>
              </a:lnSpc>
              <a:spcBef>
                <a:spcPts val="1000"/>
              </a:spcBef>
              <a:spcAft>
                <a:spcPts val="0"/>
              </a:spcAft>
              <a:buClr>
                <a:srgbClr val="000000"/>
              </a:buClr>
              <a:buSzPct val="100000"/>
              <a:buFont typeface="Arial"/>
              <a:buAutoNum type="arabicPeriod"/>
            </a:pPr>
            <a:r>
              <a:rPr b="1" lang="es" sz="1300">
                <a:solidFill>
                  <a:srgbClr val="000000"/>
                </a:solidFill>
                <a:latin typeface="Arial"/>
                <a:ea typeface="Arial"/>
                <a:cs typeface="Arial"/>
                <a:sym typeface="Arial"/>
              </a:rPr>
              <a:t>La "Mémoire" de l'Agent : La Q-Table</a:t>
            </a:r>
            <a:endParaRPr b="1" sz="1300">
              <a:solidFill>
                <a:srgbClr val="000000"/>
              </a:solidFill>
              <a:latin typeface="Arial"/>
              <a:ea typeface="Arial"/>
              <a:cs typeface="Arial"/>
              <a:sym typeface="Arial"/>
            </a:endParaRPr>
          </a:p>
          <a:p>
            <a:pPr indent="-304958" lvl="1" marL="914400" marR="0" rtl="0" algn="l">
              <a:lnSpc>
                <a:spcPct val="115000"/>
              </a:lnSpc>
              <a:spcBef>
                <a:spcPts val="1000"/>
              </a:spcBef>
              <a:spcAft>
                <a:spcPts val="0"/>
              </a:spcAft>
              <a:buClr>
                <a:srgbClr val="000000"/>
              </a:buClr>
              <a:buSzPct val="100000"/>
              <a:buFont typeface="Arial"/>
              <a:buAutoNum type="alphaLcPeriod"/>
            </a:pPr>
            <a:r>
              <a:rPr lang="es" sz="1300">
                <a:solidFill>
                  <a:srgbClr val="000000"/>
                </a:solidFill>
                <a:latin typeface="Arial"/>
                <a:ea typeface="Arial"/>
                <a:cs typeface="Arial"/>
                <a:sym typeface="Arial"/>
              </a:rPr>
              <a:t>Lignes: Tous les états possibles (ex: "Mur à gauche, Pomme devant").</a:t>
            </a:r>
            <a:endParaRPr sz="1300">
              <a:solidFill>
                <a:srgbClr val="000000"/>
              </a:solidFill>
              <a:latin typeface="Arial"/>
              <a:ea typeface="Arial"/>
              <a:cs typeface="Arial"/>
              <a:sym typeface="Arial"/>
            </a:endParaRPr>
          </a:p>
          <a:p>
            <a:pPr indent="-304958" lvl="1" marL="914400" marR="0" rtl="0" algn="l">
              <a:lnSpc>
                <a:spcPct val="115000"/>
              </a:lnSpc>
              <a:spcBef>
                <a:spcPts val="1000"/>
              </a:spcBef>
              <a:spcAft>
                <a:spcPts val="0"/>
              </a:spcAft>
              <a:buClr>
                <a:srgbClr val="000000"/>
              </a:buClr>
              <a:buSzPct val="100000"/>
              <a:buFont typeface="Arial"/>
              <a:buAutoNum type="alphaLcPeriod"/>
            </a:pPr>
            <a:r>
              <a:rPr lang="es" sz="1300">
                <a:solidFill>
                  <a:srgbClr val="000000"/>
                </a:solidFill>
                <a:latin typeface="Arial"/>
                <a:ea typeface="Arial"/>
                <a:cs typeface="Arial"/>
                <a:sym typeface="Arial"/>
              </a:rPr>
              <a:t>Colonnes: Les 3 actions possibles.</a:t>
            </a:r>
            <a:endParaRPr sz="1300">
              <a:solidFill>
                <a:srgbClr val="000000"/>
              </a:solidFill>
              <a:latin typeface="Arial"/>
              <a:ea typeface="Arial"/>
              <a:cs typeface="Arial"/>
              <a:sym typeface="Arial"/>
            </a:endParaRPr>
          </a:p>
          <a:p>
            <a:pPr indent="-304958" lvl="1" marL="914400" marR="0" rtl="0" algn="l">
              <a:lnSpc>
                <a:spcPct val="115000"/>
              </a:lnSpc>
              <a:spcBef>
                <a:spcPts val="1000"/>
              </a:spcBef>
              <a:spcAft>
                <a:spcPts val="0"/>
              </a:spcAft>
              <a:buClr>
                <a:srgbClr val="000000"/>
              </a:buClr>
              <a:buSzPct val="100000"/>
              <a:buFont typeface="Arial"/>
              <a:buAutoNum type="alphaLcPeriod"/>
            </a:pPr>
            <a:r>
              <a:rPr lang="es" sz="1300">
                <a:solidFill>
                  <a:srgbClr val="000000"/>
                </a:solidFill>
                <a:latin typeface="Arial"/>
                <a:ea typeface="Arial"/>
                <a:cs typeface="Arial"/>
                <a:sym typeface="Arial"/>
              </a:rPr>
              <a:t>Valeurs: Le score de "qualité" estimé pour chaque action.</a:t>
            </a:r>
            <a:endParaRPr sz="1300">
              <a:solidFill>
                <a:srgbClr val="000000"/>
              </a:solidFill>
              <a:latin typeface="Arial"/>
              <a:ea typeface="Arial"/>
              <a:cs typeface="Arial"/>
              <a:sym typeface="Arial"/>
            </a:endParaRPr>
          </a:p>
          <a:p>
            <a:pPr indent="-304958" lvl="1" marL="914400" marR="0" rtl="0" algn="l">
              <a:lnSpc>
                <a:spcPct val="115000"/>
              </a:lnSpc>
              <a:spcBef>
                <a:spcPts val="1000"/>
              </a:spcBef>
              <a:spcAft>
                <a:spcPts val="1000"/>
              </a:spcAft>
              <a:buClr>
                <a:srgbClr val="000000"/>
              </a:buClr>
              <a:buSzPct val="100000"/>
              <a:buFont typeface="Arial"/>
              <a:buAutoNum type="alphaLcPeriod"/>
            </a:pPr>
            <a:r>
              <a:rPr lang="es" sz="1300">
                <a:solidFill>
                  <a:srgbClr val="000000"/>
                </a:solidFill>
                <a:latin typeface="Arial"/>
                <a:ea typeface="Arial"/>
                <a:cs typeface="Arial"/>
                <a:sym typeface="Arial"/>
              </a:rPr>
              <a:t>Objectif : Remplir ce tableau pour que, dans n'importe quelle situation, l'agent choisisse l'action ayant la plus haute valeur.</a:t>
            </a:r>
            <a:endParaRPr sz="1300">
              <a:solidFill>
                <a:srgbClr val="000000"/>
              </a:solidFill>
              <a:latin typeface="Arial"/>
              <a:ea typeface="Arial"/>
              <a:cs typeface="Arial"/>
              <a:sym typeface="Arial"/>
            </a:endParaRPr>
          </a:p>
        </p:txBody>
      </p:sp>
      <p:sp>
        <p:nvSpPr>
          <p:cNvPr id="109" name="Google Shape;109;p1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2. Fonctionnement du Reinforcement Learning</a:t>
            </a:r>
            <a:endParaRPr/>
          </a:p>
        </p:txBody>
      </p:sp>
      <p:sp>
        <p:nvSpPr>
          <p:cNvPr id="115" name="Google Shape;115;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s" sz="1300">
                <a:solidFill>
                  <a:srgbClr val="000000"/>
                </a:solidFill>
                <a:latin typeface="Arial"/>
                <a:ea typeface="Arial"/>
                <a:cs typeface="Arial"/>
                <a:sym typeface="Arial"/>
              </a:rPr>
              <a:t>3.	Le mécanisme de décision (Exploration vs Exploitation)</a:t>
            </a:r>
            <a:endParaRPr b="1" sz="1300">
              <a:solidFill>
                <a:srgbClr val="000000"/>
              </a:solidFill>
              <a:latin typeface="Arial"/>
              <a:ea typeface="Arial"/>
              <a:cs typeface="Arial"/>
              <a:sym typeface="Arial"/>
            </a:endParaRPr>
          </a:p>
          <a:p>
            <a:pPr indent="-311150" lvl="0" marL="914400" marR="0" rtl="0" algn="l">
              <a:lnSpc>
                <a:spcPct val="115000"/>
              </a:lnSpc>
              <a:spcBef>
                <a:spcPts val="1000"/>
              </a:spcBef>
              <a:spcAft>
                <a:spcPts val="0"/>
              </a:spcAft>
              <a:buClr>
                <a:srgbClr val="000000"/>
              </a:buClr>
              <a:buSzPts val="1300"/>
              <a:buFont typeface="Arial"/>
              <a:buAutoNum type="alphaLcPeriod"/>
            </a:pPr>
            <a:r>
              <a:rPr lang="es" sz="1300">
                <a:solidFill>
                  <a:srgbClr val="000000"/>
                </a:solidFill>
                <a:latin typeface="Arial"/>
                <a:ea typeface="Arial"/>
                <a:cs typeface="Arial"/>
                <a:sym typeface="Arial"/>
              </a:rPr>
              <a:t>Exploration (Au début) : L'agent choisit des actions au hasard pour découvrir l'environnement (tester des directions).</a:t>
            </a:r>
            <a:endParaRPr sz="1300">
              <a:solidFill>
                <a:srgbClr val="000000"/>
              </a:solidFill>
              <a:latin typeface="Arial"/>
              <a:ea typeface="Arial"/>
              <a:cs typeface="Arial"/>
              <a:sym typeface="Arial"/>
            </a:endParaRPr>
          </a:p>
          <a:p>
            <a:pPr indent="-311150" lvl="0" marL="914400" marR="0" rtl="0" algn="l">
              <a:lnSpc>
                <a:spcPct val="115000"/>
              </a:lnSpc>
              <a:spcBef>
                <a:spcPts val="1000"/>
              </a:spcBef>
              <a:spcAft>
                <a:spcPts val="0"/>
              </a:spcAft>
              <a:buClr>
                <a:srgbClr val="000000"/>
              </a:buClr>
              <a:buSzPts val="1300"/>
              <a:buFont typeface="Arial"/>
              <a:buAutoNum type="alphaLcPeriod"/>
            </a:pPr>
            <a:r>
              <a:rPr lang="es" sz="1300">
                <a:solidFill>
                  <a:srgbClr val="000000"/>
                </a:solidFill>
                <a:latin typeface="Arial"/>
                <a:ea typeface="Arial"/>
                <a:cs typeface="Arial"/>
                <a:sym typeface="Arial"/>
              </a:rPr>
              <a:t>Exploitation (À la fin) : Une fois entraîné, il réduit le hasard et utilise uniquement ce qu'il a appris (les meilleures valeurs de la Q-Table).</a:t>
            </a:r>
            <a:endParaRPr sz="1300">
              <a:solidFill>
                <a:srgbClr val="000000"/>
              </a:solidFill>
              <a:latin typeface="Arial"/>
              <a:ea typeface="Arial"/>
              <a:cs typeface="Arial"/>
              <a:sym typeface="Arial"/>
            </a:endParaRPr>
          </a:p>
          <a:p>
            <a:pPr indent="0" lvl="0" marL="0" marR="0" rtl="0" algn="l">
              <a:lnSpc>
                <a:spcPct val="115000"/>
              </a:lnSpc>
              <a:spcBef>
                <a:spcPts val="1000"/>
              </a:spcBef>
              <a:spcAft>
                <a:spcPts val="0"/>
              </a:spcAft>
              <a:buNone/>
            </a:pPr>
            <a:r>
              <a:rPr b="1" lang="es" sz="1300">
                <a:solidFill>
                  <a:srgbClr val="000000"/>
                </a:solidFill>
                <a:latin typeface="Arial"/>
                <a:ea typeface="Arial"/>
                <a:cs typeface="Arial"/>
                <a:sym typeface="Arial"/>
              </a:rPr>
              <a:t>4.</a:t>
            </a:r>
            <a:r>
              <a:rPr lang="es" sz="1300">
                <a:solidFill>
                  <a:srgbClr val="000000"/>
                </a:solidFill>
                <a:latin typeface="Arial"/>
                <a:ea typeface="Arial"/>
                <a:cs typeface="Arial"/>
                <a:sym typeface="Arial"/>
              </a:rPr>
              <a:t>	</a:t>
            </a:r>
            <a:r>
              <a:rPr b="1" lang="es" sz="1300">
                <a:solidFill>
                  <a:srgbClr val="000000"/>
                </a:solidFill>
                <a:latin typeface="Arial"/>
                <a:ea typeface="Arial"/>
                <a:cs typeface="Arial"/>
                <a:sym typeface="Arial"/>
              </a:rPr>
              <a:t>L'Équation de Bellman (Le moteur mathématique)</a:t>
            </a:r>
            <a:endParaRPr b="1" sz="1300">
              <a:solidFill>
                <a:srgbClr val="000000"/>
              </a:solidFill>
              <a:latin typeface="Arial"/>
              <a:ea typeface="Arial"/>
              <a:cs typeface="Arial"/>
              <a:sym typeface="Arial"/>
            </a:endParaRPr>
          </a:p>
          <a:p>
            <a:pPr indent="-311150" lvl="0" marL="914400" marR="0" rtl="0" algn="l">
              <a:lnSpc>
                <a:spcPct val="115000"/>
              </a:lnSpc>
              <a:spcBef>
                <a:spcPts val="1000"/>
              </a:spcBef>
              <a:spcAft>
                <a:spcPts val="0"/>
              </a:spcAft>
              <a:buClr>
                <a:srgbClr val="000000"/>
              </a:buClr>
              <a:buSzPts val="1300"/>
              <a:buFont typeface="Arial"/>
              <a:buChar char="●"/>
            </a:pPr>
            <a:r>
              <a:rPr b="1" i="1" lang="es" sz="1300">
                <a:solidFill>
                  <a:srgbClr val="000000"/>
                </a:solidFill>
                <a:latin typeface="Arial"/>
                <a:ea typeface="Arial"/>
                <a:cs typeface="Arial"/>
                <a:sym typeface="Arial"/>
              </a:rPr>
              <a:t>alpha</a:t>
            </a:r>
            <a:r>
              <a:rPr b="1" lang="es" sz="1300">
                <a:solidFill>
                  <a:srgbClr val="000000"/>
                </a:solidFill>
                <a:latin typeface="Arial"/>
                <a:ea typeface="Arial"/>
                <a:cs typeface="Arial"/>
                <a:sym typeface="Arial"/>
              </a:rPr>
              <a:t> (Learning Rate)</a:t>
            </a:r>
            <a:r>
              <a:rPr lang="es" sz="1300">
                <a:solidFill>
                  <a:srgbClr val="000000"/>
                </a:solidFill>
                <a:latin typeface="Arial"/>
                <a:ea typeface="Arial"/>
                <a:cs typeface="Arial"/>
                <a:sym typeface="Arial"/>
              </a:rPr>
              <a:t> : À quel point l'agent écoute la nouvelle information.</a:t>
            </a:r>
            <a:endParaRPr sz="1300">
              <a:solidFill>
                <a:srgbClr val="000000"/>
              </a:solidFill>
              <a:latin typeface="Arial"/>
              <a:ea typeface="Arial"/>
              <a:cs typeface="Arial"/>
              <a:sym typeface="Arial"/>
            </a:endParaRPr>
          </a:p>
          <a:p>
            <a:pPr indent="-311150" lvl="0" marL="914400" marR="0" rtl="0" algn="l">
              <a:lnSpc>
                <a:spcPct val="115000"/>
              </a:lnSpc>
              <a:spcBef>
                <a:spcPts val="1000"/>
              </a:spcBef>
              <a:spcAft>
                <a:spcPts val="1000"/>
              </a:spcAft>
              <a:buClr>
                <a:srgbClr val="000000"/>
              </a:buClr>
              <a:buSzPts val="1300"/>
              <a:buFont typeface="Arial"/>
              <a:buChar char="●"/>
            </a:pPr>
            <a:r>
              <a:rPr b="1" i="1" lang="es" sz="1300">
                <a:solidFill>
                  <a:srgbClr val="000000"/>
                </a:solidFill>
                <a:latin typeface="Arial"/>
                <a:ea typeface="Arial"/>
                <a:cs typeface="Arial"/>
                <a:sym typeface="Arial"/>
              </a:rPr>
              <a:t>gamma</a:t>
            </a:r>
            <a:r>
              <a:rPr b="1" lang="es" sz="1300">
                <a:solidFill>
                  <a:srgbClr val="000000"/>
                </a:solidFill>
                <a:latin typeface="Arial"/>
                <a:ea typeface="Arial"/>
                <a:cs typeface="Arial"/>
                <a:sym typeface="Arial"/>
              </a:rPr>
              <a:t> (Discount Factor)</a:t>
            </a:r>
            <a:r>
              <a:rPr lang="es" sz="1300">
                <a:solidFill>
                  <a:srgbClr val="000000"/>
                </a:solidFill>
                <a:latin typeface="Arial"/>
                <a:ea typeface="Arial"/>
                <a:cs typeface="Arial"/>
                <a:sym typeface="Arial"/>
              </a:rPr>
              <a:t> : L'importance accordée aux récompenses futures (vision à long terme).</a:t>
            </a:r>
            <a:endParaRPr sz="1300">
              <a:solidFill>
                <a:srgbClr val="000000"/>
              </a:solidFill>
              <a:latin typeface="Arial"/>
              <a:ea typeface="Arial"/>
              <a:cs typeface="Arial"/>
              <a:sym typeface="Arial"/>
            </a:endParaRPr>
          </a:p>
        </p:txBody>
      </p:sp>
      <p:sp>
        <p:nvSpPr>
          <p:cNvPr id="116" name="Google Shape;116;p1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17" name="Google Shape;117;p17"/>
          <p:cNvPicPr preferRelativeResize="0"/>
          <p:nvPr/>
        </p:nvPicPr>
        <p:blipFill>
          <a:blip r:embed="rId3">
            <a:alphaModFix/>
          </a:blip>
          <a:stretch>
            <a:fillRect/>
          </a:stretch>
        </p:blipFill>
        <p:spPr>
          <a:xfrm>
            <a:off x="1082313" y="3806875"/>
            <a:ext cx="6467475" cy="762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3. L’entraînement de l’Agent</a:t>
            </a:r>
            <a:endParaRPr/>
          </a:p>
        </p:txBody>
      </p:sp>
      <p:sp>
        <p:nvSpPr>
          <p:cNvPr id="123" name="Google Shape;123;p18"/>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100"/>
              <a:t>1. Configuration de l'Apprentissage (Hyperparamètres)</a:t>
            </a:r>
            <a:endParaRPr b="1" sz="1100"/>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Nombre d'épisodes</a:t>
            </a:r>
            <a:r>
              <a:rPr lang="es" sz="1100">
                <a:solidFill>
                  <a:srgbClr val="000000"/>
                </a:solidFill>
                <a:latin typeface="Arial"/>
                <a:ea typeface="Arial"/>
                <a:cs typeface="Arial"/>
                <a:sym typeface="Arial"/>
              </a:rPr>
              <a:t> : 20 000 itérations.</a:t>
            </a:r>
            <a:endParaRPr sz="1100">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Taux d'apprentissage (</a:t>
            </a:r>
            <a:r>
              <a:rPr b="1" i="1" lang="es" sz="1100">
                <a:solidFill>
                  <a:srgbClr val="000000"/>
                </a:solidFill>
                <a:latin typeface="Arial"/>
                <a:ea typeface="Arial"/>
                <a:cs typeface="Arial"/>
                <a:sym typeface="Arial"/>
              </a:rPr>
              <a:t>alpha</a:t>
            </a:r>
            <a:r>
              <a:rPr b="1" lang="es" sz="1100">
                <a:solidFill>
                  <a:srgbClr val="000000"/>
                </a:solidFill>
                <a:latin typeface="Arial"/>
                <a:ea typeface="Arial"/>
                <a:cs typeface="Arial"/>
                <a:sym typeface="Arial"/>
              </a:rPr>
              <a:t>) : </a:t>
            </a:r>
            <a:r>
              <a:rPr lang="es" sz="1100">
                <a:solidFill>
                  <a:srgbClr val="000000"/>
                </a:solidFill>
                <a:latin typeface="Arial"/>
                <a:ea typeface="Arial"/>
                <a:cs typeface="Arial"/>
                <a:sym typeface="Arial"/>
              </a:rPr>
              <a:t>0.001</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Facteur d'escompte (</a:t>
            </a:r>
            <a:r>
              <a:rPr b="1" i="1" lang="es" sz="1100">
                <a:solidFill>
                  <a:srgbClr val="000000"/>
                </a:solidFill>
                <a:latin typeface="Arial"/>
                <a:ea typeface="Arial"/>
                <a:cs typeface="Arial"/>
                <a:sym typeface="Arial"/>
              </a:rPr>
              <a:t>gamma</a:t>
            </a:r>
            <a:r>
              <a:rPr b="1" lang="es" sz="1100">
                <a:solidFill>
                  <a:srgbClr val="000000"/>
                </a:solidFill>
                <a:latin typeface="Arial"/>
                <a:ea typeface="Arial"/>
                <a:cs typeface="Arial"/>
                <a:sym typeface="Arial"/>
              </a:rPr>
              <a:t>) : </a:t>
            </a:r>
            <a:r>
              <a:rPr lang="es" sz="1100">
                <a:solidFill>
                  <a:srgbClr val="000000"/>
                </a:solidFill>
                <a:latin typeface="Arial"/>
                <a:ea typeface="Arial"/>
                <a:cs typeface="Arial"/>
                <a:sym typeface="Arial"/>
              </a:rPr>
              <a:t>0.9.</a:t>
            </a:r>
            <a:endParaRPr sz="1100">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Stratégie </a:t>
            </a:r>
            <a:r>
              <a:rPr b="1" i="1" lang="es" sz="1100">
                <a:solidFill>
                  <a:srgbClr val="000000"/>
                </a:solidFill>
                <a:latin typeface="Arial"/>
                <a:ea typeface="Arial"/>
                <a:cs typeface="Arial"/>
                <a:sym typeface="Arial"/>
              </a:rPr>
              <a:t>epsilon-greedy </a:t>
            </a:r>
            <a:r>
              <a:rPr b="1"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Décroissance linéaire du hasard (exploration) vers la connaissance (exploitation).</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s" sz="1100"/>
              <a:t>2. Monitoring via TensorBoard (Validation Scientifique)</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L'utilisation de </a:t>
            </a:r>
            <a:r>
              <a:rPr b="1" lang="es" sz="1100">
                <a:solidFill>
                  <a:srgbClr val="000000"/>
                </a:solidFill>
                <a:latin typeface="Arial"/>
                <a:ea typeface="Arial"/>
                <a:cs typeface="Arial"/>
                <a:sym typeface="Arial"/>
              </a:rPr>
              <a:t>TensorBoard</a:t>
            </a:r>
            <a:r>
              <a:rPr lang="es" sz="1100">
                <a:solidFill>
                  <a:srgbClr val="000000"/>
                </a:solidFill>
                <a:latin typeface="Arial"/>
                <a:ea typeface="Arial"/>
                <a:cs typeface="Arial"/>
                <a:sym typeface="Arial"/>
              </a:rPr>
              <a:t> nous a permis de suivre deux métriques vitales :</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Courbe des Récompenses (Mean Reward)</a:t>
            </a:r>
            <a:r>
              <a:rPr lang="es" sz="1100">
                <a:solidFill>
                  <a:srgbClr val="000000"/>
                </a:solidFill>
                <a:latin typeface="Arial"/>
                <a:ea typeface="Arial"/>
                <a:cs typeface="Arial"/>
                <a:sym typeface="Arial"/>
              </a:rPr>
              <a:t> : Validation de la progression de l'agent.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Analyse de la Perte (Loss)</a:t>
            </a:r>
            <a:r>
              <a:rPr lang="es" sz="1100">
                <a:solidFill>
                  <a:srgbClr val="000000"/>
                </a:solidFill>
                <a:latin typeface="Arial"/>
                <a:ea typeface="Arial"/>
                <a:cs typeface="Arial"/>
                <a:sym typeface="Arial"/>
              </a:rPr>
              <a:t> : Surveillance de la stabilité mathématique du modèle pendant la mise à jour des Q-values.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s" sz="1100"/>
              <a:t>3. Optimisation et Persistance (Points Clés Techniques)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Vitesse d'exécution</a:t>
            </a:r>
            <a:r>
              <a:rPr lang="es" sz="1100">
                <a:solidFill>
                  <a:srgbClr val="000000"/>
                </a:solidFill>
                <a:latin typeface="Arial"/>
                <a:ea typeface="Arial"/>
                <a:cs typeface="Arial"/>
                <a:sym typeface="Arial"/>
              </a:rPr>
              <a:t> : Entraînement réalisé en mode "Headless" (sans interface graphique) pour accélérer les calculs.</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Format de sauvegarde</a:t>
            </a:r>
            <a:r>
              <a:rPr lang="es" sz="1100">
                <a:solidFill>
                  <a:srgbClr val="000000"/>
                </a:solidFill>
                <a:latin typeface="Arial"/>
                <a:ea typeface="Arial"/>
                <a:cs typeface="Arial"/>
                <a:sym typeface="Arial"/>
              </a:rPr>
              <a:t> : Utilisation du format </a:t>
            </a:r>
            <a:r>
              <a:rPr b="1" lang="es" sz="1100">
                <a:solidFill>
                  <a:srgbClr val="000000"/>
                </a:solidFill>
                <a:latin typeface="Arial"/>
                <a:ea typeface="Arial"/>
                <a:cs typeface="Arial"/>
                <a:sym typeface="Arial"/>
              </a:rPr>
              <a:t>MsgPack</a:t>
            </a:r>
            <a:r>
              <a:rPr lang="es" sz="1100">
                <a:solidFill>
                  <a:srgbClr val="000000"/>
                </a:solidFill>
                <a:latin typeface="Arial"/>
                <a:ea typeface="Arial"/>
                <a:cs typeface="Arial"/>
                <a:sym typeface="Arial"/>
              </a:rPr>
              <a:t> pour sérialiser la Q-Table.</a:t>
            </a:r>
            <a:endParaRPr sz="1100"/>
          </a:p>
        </p:txBody>
      </p:sp>
      <p:sp>
        <p:nvSpPr>
          <p:cNvPr id="124" name="Google Shape;124;p1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0" name="Google Shape;130;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31" name="Google Shape;131;p1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32" name="Google Shape;132;p19" title="2026-03-29 23-27-10 (online-video-cutter.com).mp4">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title"/>
          </p:nvPr>
        </p:nvSpPr>
        <p:spPr>
          <a:xfrm>
            <a:off x="366425" y="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4. Démonstration</a:t>
            </a:r>
            <a:endParaRPr/>
          </a:p>
        </p:txBody>
      </p:sp>
      <p:sp>
        <p:nvSpPr>
          <p:cNvPr id="138" name="Google Shape;138;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39" name="Google Shape;139;p2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40" name="Google Shape;140;p20" title="2026-03-29 23-38-29 (online-video-cutter.com).mp4">
            <a:hlinkClick r:id="rId3"/>
          </p:cNvPr>
          <p:cNvPicPr preferRelativeResize="0"/>
          <p:nvPr/>
        </p:nvPicPr>
        <p:blipFill>
          <a:blip r:embed="rId4">
            <a:alphaModFix/>
          </a:blip>
          <a:stretch>
            <a:fillRect/>
          </a:stretch>
        </p:blipFill>
        <p:spPr>
          <a:xfrm>
            <a:off x="715175" y="536375"/>
            <a:ext cx="7678525" cy="4607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5. Conclusions</a:t>
            </a:r>
            <a:endParaRPr/>
          </a:p>
        </p:txBody>
      </p:sp>
      <p:sp>
        <p:nvSpPr>
          <p:cNvPr id="146" name="Google Shape;146;p21"/>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000000"/>
                </a:solidFill>
                <a:latin typeface="Arial"/>
                <a:ea typeface="Arial"/>
                <a:cs typeface="Arial"/>
                <a:sym typeface="Arial"/>
              </a:rPr>
              <a:t>Synthèse des Résultats</a:t>
            </a:r>
            <a:endParaRPr b="1" sz="1200">
              <a:solidFill>
                <a:srgbClr val="000000"/>
              </a:solidFill>
              <a:latin typeface="Arial"/>
              <a:ea typeface="Arial"/>
              <a:cs typeface="Arial"/>
              <a:sym typeface="Arial"/>
            </a:endParaRPr>
          </a:p>
          <a:p>
            <a:pPr indent="-304800" lvl="0" marL="457200" rtl="0" algn="l">
              <a:spcBef>
                <a:spcPts val="400"/>
              </a:spcBef>
              <a:spcAft>
                <a:spcPts val="0"/>
              </a:spcAft>
              <a:buClr>
                <a:srgbClr val="000000"/>
              </a:buClr>
              <a:buSzPts val="1200"/>
              <a:buFont typeface="Arial"/>
              <a:buChar char="●"/>
            </a:pPr>
            <a:r>
              <a:rPr b="1" lang="es" sz="1200">
                <a:solidFill>
                  <a:srgbClr val="000000"/>
                </a:solidFill>
                <a:latin typeface="Arial"/>
                <a:ea typeface="Arial"/>
                <a:cs typeface="Arial"/>
                <a:sym typeface="Arial"/>
              </a:rPr>
              <a:t>A*</a:t>
            </a:r>
            <a:r>
              <a:rPr lang="es" sz="1200">
                <a:solidFill>
                  <a:srgbClr val="000000"/>
                </a:solidFill>
                <a:latin typeface="Arial"/>
                <a:ea typeface="Arial"/>
                <a:cs typeface="Arial"/>
                <a:sym typeface="Arial"/>
              </a:rPr>
              <a:t> L'algorithme déterministe garantit systématiquement le chemin le plus court vers la nourriture. Cependant, sa complexité de calcul augmente avec la saturation de la grille, et il reste vulnérable aux situations d'enfermement à long terme.</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b="1" lang="es" sz="1200">
                <a:solidFill>
                  <a:srgbClr val="000000"/>
                </a:solidFill>
                <a:latin typeface="Arial"/>
                <a:ea typeface="Arial"/>
                <a:cs typeface="Arial"/>
                <a:sym typeface="Arial"/>
              </a:rPr>
              <a:t>RL : L'efficacité en temps réel.</a:t>
            </a:r>
            <a:r>
              <a:rPr lang="es" sz="1200">
                <a:solidFill>
                  <a:srgbClr val="000000"/>
                </a:solidFill>
                <a:latin typeface="Arial"/>
                <a:ea typeface="Arial"/>
                <a:cs typeface="Arial"/>
                <a:sym typeface="Arial"/>
              </a:rPr>
              <a:t> Bien que l'apprentissage nécessite une phase d'entraînement intensive (20 000 épisodes), l'agent final offre une latence de décision constante </a:t>
            </a:r>
            <a:r>
              <a:rPr b="1" lang="es" sz="1200">
                <a:solidFill>
                  <a:srgbClr val="000000"/>
                </a:solidFill>
                <a:latin typeface="Arial"/>
                <a:ea typeface="Arial"/>
                <a:cs typeface="Arial"/>
                <a:sym typeface="Arial"/>
              </a:rPr>
              <a:t>O(1)</a:t>
            </a:r>
            <a:r>
              <a:rPr lang="es" sz="1200">
                <a:solidFill>
                  <a:srgbClr val="000000"/>
                </a:solidFill>
                <a:latin typeface="Arial"/>
                <a:ea typeface="Arial"/>
                <a:cs typeface="Arial"/>
                <a:sym typeface="Arial"/>
              </a:rPr>
              <a:t>. Grâce à l'encodage 11-bits, l'IA a développé une stratégie de survie robuste, capable de rivaliser avec l'heuristique dans des environnements denses.</a:t>
            </a:r>
            <a:endParaRPr sz="1200">
              <a:solidFill>
                <a:srgbClr val="000000"/>
              </a:solidFill>
              <a:latin typeface="Arial"/>
              <a:ea typeface="Arial"/>
              <a:cs typeface="Arial"/>
              <a:sym typeface="Arial"/>
            </a:endParaRPr>
          </a:p>
          <a:p>
            <a:pPr indent="0" lvl="0" marL="0" rtl="0" algn="l">
              <a:spcBef>
                <a:spcPts val="1400"/>
              </a:spcBef>
              <a:spcAft>
                <a:spcPts val="0"/>
              </a:spcAft>
              <a:buNone/>
            </a:pPr>
            <a:r>
              <a:rPr b="1" lang="es" sz="1200">
                <a:solidFill>
                  <a:srgbClr val="000000"/>
                </a:solidFill>
                <a:latin typeface="Arial"/>
                <a:ea typeface="Arial"/>
                <a:cs typeface="Arial"/>
                <a:sym typeface="Arial"/>
              </a:rPr>
              <a:t>Apports de l'Ingénierie Logicielle</a:t>
            </a:r>
            <a:endParaRPr sz="1200">
              <a:solidFill>
                <a:srgbClr val="000000"/>
              </a:solidFill>
              <a:latin typeface="Arial"/>
              <a:ea typeface="Arial"/>
              <a:cs typeface="Arial"/>
              <a:sym typeface="Arial"/>
            </a:endParaRPr>
          </a:p>
          <a:p>
            <a:pPr indent="-304800" lvl="0" marL="457200" rtl="0" algn="l">
              <a:spcBef>
                <a:spcPts val="1200"/>
              </a:spcBef>
              <a:spcAft>
                <a:spcPts val="0"/>
              </a:spcAft>
              <a:buClr>
                <a:srgbClr val="000000"/>
              </a:buClr>
              <a:buSzPts val="1200"/>
              <a:buFont typeface="Arial"/>
              <a:buChar char="●"/>
            </a:pPr>
            <a:r>
              <a:rPr b="1" lang="es" sz="1200">
                <a:solidFill>
                  <a:srgbClr val="000000"/>
                </a:solidFill>
                <a:latin typeface="Arial"/>
                <a:ea typeface="Arial"/>
                <a:cs typeface="Arial"/>
                <a:sym typeface="Arial"/>
              </a:rPr>
              <a:t>Modularité (Pattern Strategy)</a:t>
            </a:r>
            <a:r>
              <a:rPr lang="es" sz="1200">
                <a:solidFill>
                  <a:srgbClr val="000000"/>
                </a:solidFill>
                <a:latin typeface="Arial"/>
                <a:ea typeface="Arial"/>
                <a:cs typeface="Arial"/>
                <a:sym typeface="Arial"/>
              </a:rPr>
              <a:t> : La structure du code permet d'interchanger les moteurs de décision (A* vs RL) sans modifier le noyau du jeu, facilitant ainsi la maintenance et l'évolution du système.</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b="1" lang="es" sz="1200">
                <a:solidFill>
                  <a:srgbClr val="000000"/>
                </a:solidFill>
                <a:latin typeface="Arial"/>
                <a:ea typeface="Arial"/>
                <a:cs typeface="Arial"/>
                <a:sym typeface="Arial"/>
              </a:rPr>
              <a:t>Industrialisation</a:t>
            </a:r>
            <a:r>
              <a:rPr lang="es" sz="1200">
                <a:solidFill>
                  <a:srgbClr val="000000"/>
                </a:solidFill>
                <a:latin typeface="Arial"/>
                <a:ea typeface="Arial"/>
                <a:cs typeface="Arial"/>
                <a:sym typeface="Arial"/>
              </a:rPr>
              <a:t> : L'utilisation d'outils modernes (</a:t>
            </a:r>
            <a:r>
              <a:rPr b="1" lang="es" sz="1200">
                <a:solidFill>
                  <a:srgbClr val="000000"/>
                </a:solidFill>
                <a:latin typeface="Arial"/>
                <a:ea typeface="Arial"/>
                <a:cs typeface="Arial"/>
                <a:sym typeface="Arial"/>
              </a:rPr>
              <a:t>uv, MsgPack, TensorBoard</a:t>
            </a:r>
            <a:r>
              <a:rPr lang="es" sz="1200">
                <a:solidFill>
                  <a:srgbClr val="000000"/>
                </a:solidFill>
                <a:latin typeface="Arial"/>
                <a:ea typeface="Arial"/>
                <a:cs typeface="Arial"/>
                <a:sym typeface="Arial"/>
              </a:rPr>
              <a:t>) a permis de transformer un simple script en un projet professionnel, reproductible et documenté.</a:t>
            </a:r>
            <a:endParaRPr sz="1200"/>
          </a:p>
        </p:txBody>
      </p:sp>
      <p:sp>
        <p:nvSpPr>
          <p:cNvPr id="147" name="Google Shape;147;p2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311700" y="2267850"/>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Merci pour votre attention</a:t>
            </a:r>
            <a:endParaRPr/>
          </a:p>
        </p:txBody>
      </p:sp>
      <p:sp>
        <p:nvSpPr>
          <p:cNvPr id="153" name="Google Shape;153;p2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